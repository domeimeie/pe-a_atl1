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430B503-CCB3-4BDF-B1A8-A0AC2B549A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4C7D86F-8ABE-4DE5-ACBD-96C4E66065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EA280CD-B455-475E-A0ED-94BCA274E3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FDE9AA-C2C6-4485-891D-5631FA3CC6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852E637-89DD-45D6-9640-30077780AF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4E718B6-4767-457C-AFA8-619EC526D5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49289CF-B525-497C-B34B-FD175B385B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D544FA1-E06A-4F7B-B65A-5A3A5B2EFA4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F98356-FA34-4205-8286-839AA4A00D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D2B7FE1-08E3-40A4-976C-31CC45295A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C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FBAF2D2-5197-4F1A-B32B-1C781EC0CC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de-C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pe-a-atl1-312796171129.europe-west6.run.app/docs" TargetMode="External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Oval 2"/>
          <p:cNvSpPr/>
          <p:nvPr/>
        </p:nvSpPr>
        <p:spPr>
          <a:xfrm>
            <a:off x="8138160" y="-1371600"/>
            <a:ext cx="6033960" cy="6033960"/>
          </a:xfrm>
          <a:prstGeom prst="ellipse">
            <a:avLst/>
          </a:prstGeom>
          <a:solidFill>
            <a:srgbClr val="143B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Oval 3"/>
          <p:cNvSpPr/>
          <p:nvPr/>
        </p:nvSpPr>
        <p:spPr>
          <a:xfrm>
            <a:off x="8732520" y="2331720"/>
            <a:ext cx="2742120" cy="2742120"/>
          </a:xfrm>
          <a:prstGeom prst="ellipse">
            <a:avLst/>
          </a:prstGeom>
          <a:noFill/>
          <a:ln w="25400">
            <a:solidFill>
              <a:srgbClr val="00A65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ounded Rectangle 4"/>
          <p:cNvSpPr/>
          <p:nvPr/>
        </p:nvSpPr>
        <p:spPr>
          <a:xfrm rot="2700000">
            <a:off x="9601560" y="3200040"/>
            <a:ext cx="1004760" cy="1004760"/>
          </a:xfrm>
          <a:prstGeom prst="roundRect">
            <a:avLst>
              <a:gd name="adj" fmla="val 22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77240" y="1417320"/>
            <a:ext cx="731412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HF-ICT   ·   HE24   ·   PE-A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777240" y="1965960"/>
            <a:ext cx="67680" cy="214776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3840" tIns="45000" rIns="338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161360" y="1920240"/>
            <a:ext cx="7497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DODOload</a:t>
            </a:r>
            <a:endParaRPr lang="de-CH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1161360" y="3063240"/>
            <a:ext cx="694836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lang="en-US" sz="2300" b="0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Eine File-Management-API mit FastAPI</a:t>
            </a:r>
            <a:endParaRPr lang="de-CH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1161360" y="3703320"/>
            <a:ext cx="694836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350" b="0" u="none" strike="noStrike">
                <a:solidFill>
                  <a:srgbClr val="9FB8AE"/>
                </a:solidFill>
                <a:effectLst/>
                <a:uFillTx/>
                <a:latin typeface="Arial"/>
              </a:rPr>
              <a:t>Signup, upload, tagging</a:t>
            </a:r>
            <a:endParaRPr lang="de-CH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0"/>
          <p:cNvSpPr/>
          <p:nvPr/>
        </p:nvSpPr>
        <p:spPr>
          <a:xfrm>
            <a:off x="777240" y="5074920"/>
            <a:ext cx="5119560" cy="9720"/>
          </a:xfrm>
          <a:prstGeom prst="rect">
            <a:avLst/>
          </a:prstGeom>
          <a:solidFill>
            <a:srgbClr val="2E564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777240" y="5303520"/>
            <a:ext cx="5485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Anwendungs-/Transferleistung 1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Bef>
                <a:spcPts val="400"/>
              </a:spcBef>
            </a:pPr>
            <a:r>
              <a:rPr lang="en-US" sz="1200" b="0" u="none" strike="noStrike">
                <a:solidFill>
                  <a:srgbClr val="9FB8AE"/>
                </a:solidFill>
                <a:effectLst/>
                <a:uFillTx/>
                <a:latin typeface="Arial"/>
              </a:rPr>
              <a:t>Dominique Meier  ·  Präsentation &amp; Demo, 11. August 2026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AUSGANGSLAGE &amp; IDEE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Was ist DODOload?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777240" y="1737360"/>
            <a:ext cx="3345480" cy="24678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ounded Rectangle 5"/>
          <p:cNvSpPr/>
          <p:nvPr/>
        </p:nvSpPr>
        <p:spPr>
          <a:xfrm>
            <a:off x="106992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106992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1508760" y="203004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Problem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1069920" y="2468880"/>
            <a:ext cx="276048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Dateien liegen verstreut auf verschiedenen Geräten – ohne Zugriffsschutz und ohne verlässliche Ordnung. Wer sie ablegen will, braucht einen Dienst, der beides mitbringt.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9"/>
          <p:cNvSpPr/>
          <p:nvPr/>
        </p:nvSpPr>
        <p:spPr>
          <a:xfrm>
            <a:off x="4398120" y="1737360"/>
            <a:ext cx="3345480" cy="24678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ounded Rectangle 10"/>
          <p:cNvSpPr/>
          <p:nvPr/>
        </p:nvSpPr>
        <p:spPr>
          <a:xfrm>
            <a:off x="469080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469080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→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5129640" y="203004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Lösung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3"/>
          <p:cNvSpPr/>
          <p:nvPr/>
        </p:nvSpPr>
        <p:spPr>
          <a:xfrm>
            <a:off x="4690800" y="2468880"/>
            <a:ext cx="276048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Eine RESTful API: Benutzer registrieren sich, melden sich mit einem JWT-Token an, laden Dateien hoch, laden sie wieder herunter und versehen sie mit eigenen Tags.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14"/>
          <p:cNvSpPr/>
          <p:nvPr/>
        </p:nvSpPr>
        <p:spPr>
          <a:xfrm>
            <a:off x="8019360" y="1737360"/>
            <a:ext cx="3345480" cy="24678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ounded Rectangle 15"/>
          <p:cNvSpPr/>
          <p:nvPr/>
        </p:nvSpPr>
        <p:spPr>
          <a:xfrm>
            <a:off x="831204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16"/>
          <p:cNvSpPr/>
          <p:nvPr/>
        </p:nvSpPr>
        <p:spPr>
          <a:xfrm>
            <a:off x="831204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✓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7"/>
          <p:cNvSpPr/>
          <p:nvPr/>
        </p:nvSpPr>
        <p:spPr>
          <a:xfrm>
            <a:off x="8750880" y="203004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Kernprinzip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8"/>
          <p:cNvSpPr/>
          <p:nvPr/>
        </p:nvSpPr>
        <p:spPr>
          <a:xfrm>
            <a:off x="8312040" y="2468880"/>
            <a:ext cx="2760480" cy="153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Strikte Mandantentrennung. Jeder Benutzer sieht und verwaltet ausschliesslich seine eigenen Dateien und Tags – geprüft wird das im Backend, nicht im Client.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1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3"/>
          <p:cNvSpPr/>
          <p:nvPr/>
        </p:nvSpPr>
        <p:spPr>
          <a:xfrm>
            <a:off x="10500120" y="6437520"/>
            <a:ext cx="9133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02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WAS DIE API KANN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Funktionsumfang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777240" y="171900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Rounded Rectangle 5"/>
          <p:cNvSpPr/>
          <p:nvPr/>
        </p:nvSpPr>
        <p:spPr>
          <a:xfrm>
            <a:off x="1069920" y="19933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069920" y="20437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1508760" y="201168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Authentifizierung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1069920" y="245052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Registrierung und Login. Der Login liefert ein JWT, das als Bearer-Token an alle geschützten Endpunkte mitgeschickt wird.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4398120" y="171900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4690800" y="19933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4690800" y="20437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2"/>
          <p:cNvSpPr/>
          <p:nvPr/>
        </p:nvSpPr>
        <p:spPr>
          <a:xfrm>
            <a:off x="5129640" y="201168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Upload &amp; Download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4690800" y="245052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Die Datei-Bytes landen auf der Festplatte, die Metadaten (Name, Typ, Grösse, Besitzer) in der Datenbank.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ounded Rectangle 14"/>
          <p:cNvSpPr/>
          <p:nvPr/>
        </p:nvSpPr>
        <p:spPr>
          <a:xfrm>
            <a:off x="8019360" y="171900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ounded Rectangle 15"/>
          <p:cNvSpPr/>
          <p:nvPr/>
        </p:nvSpPr>
        <p:spPr>
          <a:xfrm>
            <a:off x="8312040" y="19933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8312040" y="20437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7"/>
          <p:cNvSpPr/>
          <p:nvPr/>
        </p:nvSpPr>
        <p:spPr>
          <a:xfrm>
            <a:off x="8750880" y="201168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Tags pro Benutzer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8"/>
          <p:cNvSpPr/>
          <p:nvPr/>
        </p:nvSpPr>
        <p:spPr>
          <a:xfrm>
            <a:off x="8312040" y="245052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Dateien lassen sich beim Upload mit 0 bis n Tags versehen und anschliessend gezielt nach Tag abfragen.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19"/>
          <p:cNvSpPr/>
          <p:nvPr/>
        </p:nvSpPr>
        <p:spPr>
          <a:xfrm>
            <a:off x="777240" y="382212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ounded Rectangle 20"/>
          <p:cNvSpPr/>
          <p:nvPr/>
        </p:nvSpPr>
        <p:spPr>
          <a:xfrm>
            <a:off x="1069920" y="409644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1069920" y="414684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2"/>
          <p:cNvSpPr/>
          <p:nvPr/>
        </p:nvSpPr>
        <p:spPr>
          <a:xfrm>
            <a:off x="1508760" y="411480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Eigentümer-Prüfung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3"/>
          <p:cNvSpPr/>
          <p:nvPr/>
        </p:nvSpPr>
        <p:spPr>
          <a:xfrm>
            <a:off x="1069920" y="455364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Jeder Zugriff wird gegen die user_id aus dem Token geprüft. Fremde Dateien und Tags liefern konsequent 404.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24"/>
          <p:cNvSpPr/>
          <p:nvPr/>
        </p:nvSpPr>
        <p:spPr>
          <a:xfrm>
            <a:off x="4398120" y="382212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ounded Rectangle 25"/>
          <p:cNvSpPr/>
          <p:nvPr/>
        </p:nvSpPr>
        <p:spPr>
          <a:xfrm>
            <a:off x="4690800" y="409644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6"/>
          <p:cNvSpPr/>
          <p:nvPr/>
        </p:nvSpPr>
        <p:spPr>
          <a:xfrm>
            <a:off x="4690800" y="414684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7"/>
          <p:cNvSpPr/>
          <p:nvPr/>
        </p:nvSpPr>
        <p:spPr>
          <a:xfrm>
            <a:off x="5129640" y="411480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Account-Löschung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8"/>
          <p:cNvSpPr/>
          <p:nvPr/>
        </p:nvSpPr>
        <p:spPr>
          <a:xfrm>
            <a:off x="4690800" y="455364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Löscht den Benutzer samt allen Dateien – auf der Festplatte und in der Datenbank – sowie allen Tags.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29"/>
          <p:cNvSpPr/>
          <p:nvPr/>
        </p:nvSpPr>
        <p:spPr>
          <a:xfrm>
            <a:off x="8019360" y="3822120"/>
            <a:ext cx="3345480" cy="18734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ounded Rectangle 30"/>
          <p:cNvSpPr/>
          <p:nvPr/>
        </p:nvSpPr>
        <p:spPr>
          <a:xfrm>
            <a:off x="8312040" y="409644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31"/>
          <p:cNvSpPr/>
          <p:nvPr/>
        </p:nvSpPr>
        <p:spPr>
          <a:xfrm>
            <a:off x="8312040" y="414684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32"/>
          <p:cNvSpPr/>
          <p:nvPr/>
        </p:nvSpPr>
        <p:spPr>
          <a:xfrm>
            <a:off x="8750880" y="4114800"/>
            <a:ext cx="23216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Swagger-UI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3"/>
          <p:cNvSpPr/>
          <p:nvPr/>
        </p:nvSpPr>
        <p:spPr>
          <a:xfrm>
            <a:off x="8312040" y="4553640"/>
            <a:ext cx="2760480" cy="94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FastAPI generiert unter /docs eine interaktive Dokumentation, in der sich jeder Endpunkt direkt ausprobieren lässt.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4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35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6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03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SCHICHTENTRENNUNG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Architektur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ounded Rectangle 4"/>
          <p:cNvSpPr/>
          <p:nvPr/>
        </p:nvSpPr>
        <p:spPr>
          <a:xfrm>
            <a:off x="777240" y="1645920"/>
            <a:ext cx="6308280" cy="547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097280" y="1737360"/>
            <a:ext cx="5668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HTTP-Client</a:t>
            </a:r>
            <a:endParaRPr lang="de-CH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1097280" y="1947600"/>
            <a:ext cx="566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Swagger-UI · curl · beliebiger REST-Client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7"/>
          <p:cNvSpPr/>
          <p:nvPr/>
        </p:nvSpPr>
        <p:spPr>
          <a:xfrm>
            <a:off x="777240" y="2450520"/>
            <a:ext cx="6308280" cy="675720"/>
          </a:xfrm>
          <a:prstGeom prst="roundRect">
            <a:avLst>
              <a:gd name="adj" fmla="val 7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8"/>
          <p:cNvSpPr/>
          <p:nvPr/>
        </p:nvSpPr>
        <p:spPr>
          <a:xfrm>
            <a:off x="1097280" y="2569320"/>
            <a:ext cx="5668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Router-Schicht</a:t>
            </a:r>
            <a:endParaRPr lang="de-CH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9"/>
          <p:cNvSpPr/>
          <p:nvPr/>
        </p:nvSpPr>
        <p:spPr>
          <a:xfrm>
            <a:off x="1097280" y="2834640"/>
            <a:ext cx="566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Endpunkte, Token lesen, Eingaben validieren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0"/>
          <p:cNvSpPr/>
          <p:nvPr/>
        </p:nvSpPr>
        <p:spPr>
          <a:xfrm>
            <a:off x="777240" y="3383280"/>
            <a:ext cx="6308280" cy="675720"/>
          </a:xfrm>
          <a:prstGeom prst="roundRect">
            <a:avLst>
              <a:gd name="adj" fmla="val 7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1"/>
          <p:cNvSpPr/>
          <p:nvPr/>
        </p:nvSpPr>
        <p:spPr>
          <a:xfrm>
            <a:off x="1097280" y="3502080"/>
            <a:ext cx="5668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Service-Schicht</a:t>
            </a:r>
            <a:endParaRPr lang="de-CH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2"/>
          <p:cNvSpPr/>
          <p:nvPr/>
        </p:nvSpPr>
        <p:spPr>
          <a:xfrm>
            <a:off x="1097280" y="3767400"/>
            <a:ext cx="566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0" u="none" strike="noStrike">
                <a:solidFill>
                  <a:srgbClr val="D8F0E4"/>
                </a:solidFill>
                <a:effectLst/>
                <a:uFillTx/>
                <a:latin typeface="Arial"/>
              </a:rPr>
              <a:t>Geschäftslogik + Eigentümer-Prüfung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3"/>
          <p:cNvSpPr/>
          <p:nvPr/>
        </p:nvSpPr>
        <p:spPr>
          <a:xfrm>
            <a:off x="777240" y="4316040"/>
            <a:ext cx="6308280" cy="547560"/>
          </a:xfrm>
          <a:prstGeom prst="roundRect">
            <a:avLst>
              <a:gd name="adj" fmla="val 7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4"/>
          <p:cNvSpPr/>
          <p:nvPr/>
        </p:nvSpPr>
        <p:spPr>
          <a:xfrm>
            <a:off x="1097280" y="4407480"/>
            <a:ext cx="5668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Model-Schicht (SQLModel)</a:t>
            </a:r>
            <a:endParaRPr lang="de-CH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5"/>
          <p:cNvSpPr/>
          <p:nvPr/>
        </p:nvSpPr>
        <p:spPr>
          <a:xfrm>
            <a:off x="1097280" y="4617720"/>
            <a:ext cx="566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Tabellen &amp; Beziehungen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Down Arrow 16"/>
          <p:cNvSpPr/>
          <p:nvPr/>
        </p:nvSpPr>
        <p:spPr>
          <a:xfrm>
            <a:off x="3794760" y="22312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Down Arrow 17"/>
          <p:cNvSpPr/>
          <p:nvPr/>
        </p:nvSpPr>
        <p:spPr>
          <a:xfrm>
            <a:off x="3794760" y="31636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Down Arrow 18"/>
          <p:cNvSpPr/>
          <p:nvPr/>
        </p:nvSpPr>
        <p:spPr>
          <a:xfrm>
            <a:off x="3794760" y="409644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Down Arrow 19"/>
          <p:cNvSpPr/>
          <p:nvPr/>
        </p:nvSpPr>
        <p:spPr>
          <a:xfrm>
            <a:off x="3794760" y="490104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ounded Rectangle 20"/>
          <p:cNvSpPr/>
          <p:nvPr/>
        </p:nvSpPr>
        <p:spPr>
          <a:xfrm>
            <a:off x="777240" y="5120640"/>
            <a:ext cx="3062160" cy="657360"/>
          </a:xfrm>
          <a:prstGeom prst="roundRect">
            <a:avLst>
              <a:gd name="adj" fmla="val 7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1"/>
          <p:cNvSpPr/>
          <p:nvPr/>
        </p:nvSpPr>
        <p:spPr>
          <a:xfrm>
            <a:off x="1051560" y="5257800"/>
            <a:ext cx="2513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SQLite-Datenbank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2"/>
          <p:cNvSpPr/>
          <p:nvPr/>
        </p:nvSpPr>
        <p:spPr>
          <a:xfrm>
            <a:off x="1051560" y="5495400"/>
            <a:ext cx="2513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Metadaten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23"/>
          <p:cNvSpPr/>
          <p:nvPr/>
        </p:nvSpPr>
        <p:spPr>
          <a:xfrm>
            <a:off x="4023360" y="5120640"/>
            <a:ext cx="3062160" cy="657360"/>
          </a:xfrm>
          <a:prstGeom prst="roundRect">
            <a:avLst>
              <a:gd name="adj" fmla="val 7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4"/>
          <p:cNvSpPr/>
          <p:nvPr/>
        </p:nvSpPr>
        <p:spPr>
          <a:xfrm>
            <a:off x="4297680" y="5257800"/>
            <a:ext cx="251352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Dateisystem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5"/>
          <p:cNvSpPr/>
          <p:nvPr/>
        </p:nvSpPr>
        <p:spPr>
          <a:xfrm>
            <a:off x="4297680" y="5495400"/>
            <a:ext cx="2513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00" b="0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Datei-Bytes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26"/>
          <p:cNvSpPr/>
          <p:nvPr/>
        </p:nvSpPr>
        <p:spPr>
          <a:xfrm>
            <a:off x="7498080" y="1645920"/>
            <a:ext cx="3930840" cy="19648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7"/>
          <p:cNvSpPr/>
          <p:nvPr/>
        </p:nvSpPr>
        <p:spPr>
          <a:xfrm>
            <a:off x="7790760" y="1938600"/>
            <a:ext cx="3345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Router kennt HTTP, Service nicht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8"/>
          <p:cNvSpPr/>
          <p:nvPr/>
        </p:nvSpPr>
        <p:spPr>
          <a:xfrm>
            <a:off x="7790760" y="2377440"/>
            <a:ext cx="334548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Der Router liest das JWT und reicht nur die user_id an den Service weiter. Die Services bleiben dadurch frei von HTTP- und Token-Details – und sind isoliert testbar.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9"/>
          <p:cNvSpPr/>
          <p:nvPr/>
        </p:nvSpPr>
        <p:spPr>
          <a:xfrm>
            <a:off x="7498080" y="3794760"/>
            <a:ext cx="3930840" cy="198324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30"/>
          <p:cNvSpPr/>
          <p:nvPr/>
        </p:nvSpPr>
        <p:spPr>
          <a:xfrm>
            <a:off x="7790760" y="4087440"/>
            <a:ext cx="33454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Prüfung an genau einer Stelle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1"/>
          <p:cNvSpPr/>
          <p:nvPr/>
        </p:nvSpPr>
        <p:spPr>
          <a:xfrm>
            <a:off x="7790760" y="4526280"/>
            <a:ext cx="334548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Die Eigentümer-Prüfung liegt ausschliesslich in der Service-Schicht. Sie kann in keinem Router versehentlich vergessen werden – und musste beim Nachrüsten der Tags nur einmal erweitert werden.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32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33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4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777240" y="457200"/>
            <a:ext cx="106362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VIER TABELLEN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Datenmodell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ounded Rectangle 4"/>
          <p:cNvSpPr/>
          <p:nvPr/>
        </p:nvSpPr>
        <p:spPr>
          <a:xfrm>
            <a:off x="777240" y="2606040"/>
            <a:ext cx="2787840" cy="169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ounded Rectangle 5"/>
          <p:cNvSpPr/>
          <p:nvPr/>
        </p:nvSpPr>
        <p:spPr>
          <a:xfrm>
            <a:off x="777240" y="2606040"/>
            <a:ext cx="2787840" cy="40140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6"/>
          <p:cNvSpPr/>
          <p:nvPr/>
        </p:nvSpPr>
        <p:spPr>
          <a:xfrm>
            <a:off x="777240" y="2862000"/>
            <a:ext cx="2787840" cy="1450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1005840" y="2706480"/>
            <a:ext cx="233064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User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8"/>
          <p:cNvSpPr/>
          <p:nvPr/>
        </p:nvSpPr>
        <p:spPr>
          <a:xfrm>
            <a:off x="1005840" y="3173040"/>
            <a:ext cx="23306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● </a:t>
            </a: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id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email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password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ounded Rectangle 9"/>
          <p:cNvSpPr/>
          <p:nvPr/>
        </p:nvSpPr>
        <p:spPr>
          <a:xfrm>
            <a:off x="4709160" y="1508760"/>
            <a:ext cx="3153600" cy="196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ounded Rectangle 10"/>
          <p:cNvSpPr/>
          <p:nvPr/>
        </p:nvSpPr>
        <p:spPr>
          <a:xfrm>
            <a:off x="4709160" y="1508760"/>
            <a:ext cx="3153600" cy="40140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11"/>
          <p:cNvSpPr/>
          <p:nvPr/>
        </p:nvSpPr>
        <p:spPr>
          <a:xfrm>
            <a:off x="4709160" y="1764720"/>
            <a:ext cx="3153600" cy="1450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12"/>
          <p:cNvSpPr/>
          <p:nvPr/>
        </p:nvSpPr>
        <p:spPr>
          <a:xfrm>
            <a:off x="4937760" y="1609200"/>
            <a:ext cx="2696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File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4937760" y="2075760"/>
            <a:ext cx="269640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● </a:t>
            </a: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id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filename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path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content_type / size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user_id →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14"/>
          <p:cNvSpPr/>
          <p:nvPr/>
        </p:nvSpPr>
        <p:spPr>
          <a:xfrm>
            <a:off x="4709160" y="3840480"/>
            <a:ext cx="3153600" cy="155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Rounded Rectangle 15"/>
          <p:cNvSpPr/>
          <p:nvPr/>
        </p:nvSpPr>
        <p:spPr>
          <a:xfrm>
            <a:off x="4709160" y="3840480"/>
            <a:ext cx="3153600" cy="401400"/>
          </a:xfrm>
          <a:prstGeom prst="roundRect">
            <a:avLst>
              <a:gd name="adj" fmla="val 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Rectangle 16"/>
          <p:cNvSpPr/>
          <p:nvPr/>
        </p:nvSpPr>
        <p:spPr>
          <a:xfrm>
            <a:off x="4709160" y="4096440"/>
            <a:ext cx="3153600" cy="1450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7"/>
          <p:cNvSpPr/>
          <p:nvPr/>
        </p:nvSpPr>
        <p:spPr>
          <a:xfrm>
            <a:off x="4937760" y="3940920"/>
            <a:ext cx="26964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Tag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8"/>
          <p:cNvSpPr/>
          <p:nvPr/>
        </p:nvSpPr>
        <p:spPr>
          <a:xfrm>
            <a:off x="4937760" y="4407480"/>
            <a:ext cx="269640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● </a:t>
            </a: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id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name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○ </a:t>
            </a:r>
            <a:r>
              <a:rPr lang="en-US" sz="1050" b="0" u="none" strike="noStrike">
                <a:solidFill>
                  <a:srgbClr val="6B7F77"/>
                </a:solidFill>
                <a:effectLst/>
                <a:uFillTx/>
                <a:latin typeface="Courier New"/>
              </a:rPr>
              <a:t>user_id →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9"/>
          <p:cNvSpPr/>
          <p:nvPr/>
        </p:nvSpPr>
        <p:spPr>
          <a:xfrm>
            <a:off x="9189720" y="2697480"/>
            <a:ext cx="2239200" cy="141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20"/>
          <p:cNvSpPr/>
          <p:nvPr/>
        </p:nvSpPr>
        <p:spPr>
          <a:xfrm>
            <a:off x="9189720" y="2697480"/>
            <a:ext cx="2239200" cy="401400"/>
          </a:xfrm>
          <a:prstGeom prst="roundRect">
            <a:avLst>
              <a:gd name="adj" fmla="val 5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21"/>
          <p:cNvSpPr/>
          <p:nvPr/>
        </p:nvSpPr>
        <p:spPr>
          <a:xfrm>
            <a:off x="9189720" y="2953440"/>
            <a:ext cx="2239200" cy="145080"/>
          </a:xfrm>
          <a:prstGeom prst="rect">
            <a:avLst/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2"/>
          <p:cNvSpPr/>
          <p:nvPr/>
        </p:nvSpPr>
        <p:spPr>
          <a:xfrm>
            <a:off x="9418320" y="2797920"/>
            <a:ext cx="17820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FileTagLink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3"/>
          <p:cNvSpPr/>
          <p:nvPr/>
        </p:nvSpPr>
        <p:spPr>
          <a:xfrm>
            <a:off x="9418320" y="3264480"/>
            <a:ext cx="1782000" cy="73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● </a:t>
            </a: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file_id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49"/>
              </a:spcAft>
            </a:pPr>
            <a:r>
              <a:rPr lang="en-US" sz="800" b="0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● </a:t>
            </a: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tag_id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Connector 24"/>
          <p:cNvCxnSpPr/>
          <p:nvPr/>
        </p:nvCxnSpPr>
        <p:spPr>
          <a:xfrm flipV="1">
            <a:off x="3566160" y="2331720"/>
            <a:ext cx="1144080" cy="641160"/>
          </a:xfrm>
          <a:prstGeom prst="straightConnector1">
            <a:avLst/>
          </a:prstGeom>
          <a:ln w="19050">
            <a:solidFill>
              <a:srgbClr val="00A651"/>
            </a:solidFill>
            <a:round/>
          </a:ln>
        </p:spPr>
      </p:cxnSp>
      <p:cxnSp>
        <p:nvCxnSpPr>
          <p:cNvPr id="187" name="Connector 25"/>
          <p:cNvCxnSpPr/>
          <p:nvPr/>
        </p:nvCxnSpPr>
        <p:spPr>
          <a:xfrm>
            <a:off x="3566160" y="3840480"/>
            <a:ext cx="1144080" cy="641160"/>
          </a:xfrm>
          <a:prstGeom prst="straightConnector1">
            <a:avLst/>
          </a:prstGeom>
          <a:ln w="19050">
            <a:solidFill>
              <a:srgbClr val="00A651"/>
            </a:solidFill>
            <a:round/>
          </a:ln>
        </p:spPr>
      </p:cxnSp>
      <p:cxnSp>
        <p:nvCxnSpPr>
          <p:cNvPr id="188" name="Connector 26"/>
          <p:cNvCxnSpPr/>
          <p:nvPr/>
        </p:nvCxnSpPr>
        <p:spPr>
          <a:xfrm>
            <a:off x="7863840" y="2834640"/>
            <a:ext cx="1326960" cy="321120"/>
          </a:xfrm>
          <a:prstGeom prst="straightConnector1">
            <a:avLst/>
          </a:prstGeom>
          <a:ln w="19050">
            <a:solidFill>
              <a:srgbClr val="00A651"/>
            </a:solidFill>
            <a:round/>
          </a:ln>
        </p:spPr>
      </p:cxnSp>
      <p:cxnSp>
        <p:nvCxnSpPr>
          <p:cNvPr id="189" name="Connector 27"/>
          <p:cNvCxnSpPr/>
          <p:nvPr/>
        </p:nvCxnSpPr>
        <p:spPr>
          <a:xfrm flipV="1">
            <a:off x="7863840" y="3748680"/>
            <a:ext cx="1326960" cy="732960"/>
          </a:xfrm>
          <a:prstGeom prst="straightConnector1">
            <a:avLst/>
          </a:prstGeom>
          <a:ln w="19050">
            <a:solidFill>
              <a:srgbClr val="00A651"/>
            </a:solidFill>
            <a:round/>
          </a:ln>
        </p:spPr>
      </p:cxnSp>
      <p:sp>
        <p:nvSpPr>
          <p:cNvPr id="190" name="TextBox 28"/>
          <p:cNvSpPr/>
          <p:nvPr/>
        </p:nvSpPr>
        <p:spPr>
          <a:xfrm>
            <a:off x="3794760" y="2395800"/>
            <a:ext cx="821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1 : 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9"/>
          <p:cNvSpPr/>
          <p:nvPr/>
        </p:nvSpPr>
        <p:spPr>
          <a:xfrm>
            <a:off x="3794760" y="4041720"/>
            <a:ext cx="8218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1 : 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0"/>
          <p:cNvSpPr/>
          <p:nvPr/>
        </p:nvSpPr>
        <p:spPr>
          <a:xfrm>
            <a:off x="8275320" y="321876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n : m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3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34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5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05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14 ENDPUNKTE IN VIER GRUPPEN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API-Endpunkte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ounded Rectangle 4"/>
          <p:cNvSpPr/>
          <p:nvPr/>
        </p:nvSpPr>
        <p:spPr>
          <a:xfrm>
            <a:off x="777240" y="1627560"/>
            <a:ext cx="2467800" cy="38394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1033200" y="1847160"/>
            <a:ext cx="1955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AUTH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1033200" y="2176200"/>
            <a:ext cx="195588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1033200" y="232272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00A651"/>
                </a:solidFill>
                <a:effectLst/>
                <a:uFillTx/>
                <a:latin typeface="Courier New"/>
              </a:rPr>
              <a:t>POST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8"/>
          <p:cNvSpPr/>
          <p:nvPr/>
        </p:nvSpPr>
        <p:spPr>
          <a:xfrm>
            <a:off x="1033200" y="24962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/auth/login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9"/>
          <p:cNvSpPr/>
          <p:nvPr/>
        </p:nvSpPr>
        <p:spPr>
          <a:xfrm>
            <a:off x="1033200" y="268848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Token holen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ounded Rectangle 10"/>
          <p:cNvSpPr/>
          <p:nvPr/>
        </p:nvSpPr>
        <p:spPr>
          <a:xfrm>
            <a:off x="3465720" y="1627560"/>
            <a:ext cx="2467800" cy="38394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3721680" y="1847160"/>
            <a:ext cx="1955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USERS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2"/>
          <p:cNvSpPr/>
          <p:nvPr/>
        </p:nvSpPr>
        <p:spPr>
          <a:xfrm>
            <a:off x="3721680" y="2176200"/>
            <a:ext cx="195588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3721680" y="232272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00A651"/>
                </a:solidFill>
                <a:effectLst/>
                <a:uFillTx/>
                <a:latin typeface="Courier New"/>
              </a:rPr>
              <a:t>POST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4"/>
          <p:cNvSpPr/>
          <p:nvPr/>
        </p:nvSpPr>
        <p:spPr>
          <a:xfrm>
            <a:off x="3721680" y="24962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/users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3721680" y="268848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Registrieren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3721680" y="294444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7"/>
          <p:cNvSpPr/>
          <p:nvPr/>
        </p:nvSpPr>
        <p:spPr>
          <a:xfrm>
            <a:off x="3721680" y="31179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/users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8"/>
          <p:cNvSpPr/>
          <p:nvPr/>
        </p:nvSpPr>
        <p:spPr>
          <a:xfrm>
            <a:off x="3721680" y="331020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Liste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9"/>
          <p:cNvSpPr/>
          <p:nvPr/>
        </p:nvSpPr>
        <p:spPr>
          <a:xfrm>
            <a:off x="3721680" y="356616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0"/>
          <p:cNvSpPr/>
          <p:nvPr/>
        </p:nvSpPr>
        <p:spPr>
          <a:xfrm>
            <a:off x="3721680" y="37400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/users/{id}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1"/>
          <p:cNvSpPr/>
          <p:nvPr/>
        </p:nvSpPr>
        <p:spPr>
          <a:xfrm>
            <a:off x="3721680" y="3931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Einzeln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2"/>
          <p:cNvSpPr/>
          <p:nvPr/>
        </p:nvSpPr>
        <p:spPr>
          <a:xfrm>
            <a:off x="3721680" y="418788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DC2626"/>
                </a:solidFill>
                <a:effectLst/>
                <a:uFillTx/>
                <a:latin typeface="Courier New"/>
              </a:rPr>
              <a:t>DELETE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3"/>
          <p:cNvSpPr/>
          <p:nvPr/>
        </p:nvSpPr>
        <p:spPr>
          <a:xfrm>
            <a:off x="3721680" y="43617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/users/me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4"/>
          <p:cNvSpPr/>
          <p:nvPr/>
        </p:nvSpPr>
        <p:spPr>
          <a:xfrm>
            <a:off x="3721680" y="455364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Eigener Account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5"/>
          <p:cNvSpPr/>
          <p:nvPr/>
        </p:nvSpPr>
        <p:spPr>
          <a:xfrm>
            <a:off x="6153840" y="1627560"/>
            <a:ext cx="2467800" cy="38394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6"/>
          <p:cNvSpPr/>
          <p:nvPr/>
        </p:nvSpPr>
        <p:spPr>
          <a:xfrm>
            <a:off x="6409800" y="1847160"/>
            <a:ext cx="1955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FILES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7"/>
          <p:cNvSpPr/>
          <p:nvPr/>
        </p:nvSpPr>
        <p:spPr>
          <a:xfrm>
            <a:off x="6409800" y="2176200"/>
            <a:ext cx="195588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8"/>
          <p:cNvSpPr/>
          <p:nvPr/>
        </p:nvSpPr>
        <p:spPr>
          <a:xfrm>
            <a:off x="6409800" y="232272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00A651"/>
                </a:solidFill>
                <a:effectLst/>
                <a:uFillTx/>
                <a:latin typeface="Courier New"/>
              </a:rPr>
              <a:t>POST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9"/>
          <p:cNvSpPr/>
          <p:nvPr/>
        </p:nvSpPr>
        <p:spPr>
          <a:xfrm>
            <a:off x="6409800" y="24962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/files/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30"/>
          <p:cNvSpPr/>
          <p:nvPr/>
        </p:nvSpPr>
        <p:spPr>
          <a:xfrm>
            <a:off x="6409800" y="268848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Upload + Tags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1"/>
          <p:cNvSpPr/>
          <p:nvPr/>
        </p:nvSpPr>
        <p:spPr>
          <a:xfrm>
            <a:off x="6409800" y="294444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2"/>
          <p:cNvSpPr/>
          <p:nvPr/>
        </p:nvSpPr>
        <p:spPr>
          <a:xfrm>
            <a:off x="6409800" y="31179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/files/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3"/>
          <p:cNvSpPr/>
          <p:nvPr/>
        </p:nvSpPr>
        <p:spPr>
          <a:xfrm>
            <a:off x="6409800" y="331020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Eigene Dateien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34"/>
          <p:cNvSpPr/>
          <p:nvPr/>
        </p:nvSpPr>
        <p:spPr>
          <a:xfrm>
            <a:off x="6409800" y="356616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35"/>
          <p:cNvSpPr/>
          <p:nvPr/>
        </p:nvSpPr>
        <p:spPr>
          <a:xfrm>
            <a:off x="6409800" y="37400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/files/{id}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6"/>
          <p:cNvSpPr/>
          <p:nvPr/>
        </p:nvSpPr>
        <p:spPr>
          <a:xfrm>
            <a:off x="6409800" y="3931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Download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37"/>
          <p:cNvSpPr/>
          <p:nvPr/>
        </p:nvSpPr>
        <p:spPr>
          <a:xfrm>
            <a:off x="6409800" y="418788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DC2626"/>
                </a:solidFill>
                <a:effectLst/>
                <a:uFillTx/>
                <a:latin typeface="Courier New"/>
              </a:rPr>
              <a:t>DELETE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8"/>
          <p:cNvSpPr/>
          <p:nvPr/>
        </p:nvSpPr>
        <p:spPr>
          <a:xfrm>
            <a:off x="6409800" y="43617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/files/{id}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9"/>
          <p:cNvSpPr/>
          <p:nvPr/>
        </p:nvSpPr>
        <p:spPr>
          <a:xfrm>
            <a:off x="6409800" y="455364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Löschen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40"/>
          <p:cNvSpPr/>
          <p:nvPr/>
        </p:nvSpPr>
        <p:spPr>
          <a:xfrm>
            <a:off x="8842320" y="1627560"/>
            <a:ext cx="2467800" cy="38394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41"/>
          <p:cNvSpPr/>
          <p:nvPr/>
        </p:nvSpPr>
        <p:spPr>
          <a:xfrm>
            <a:off x="9098280" y="1847160"/>
            <a:ext cx="1955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TAGS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42"/>
          <p:cNvSpPr/>
          <p:nvPr/>
        </p:nvSpPr>
        <p:spPr>
          <a:xfrm>
            <a:off x="9098280" y="2176200"/>
            <a:ext cx="195588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43"/>
          <p:cNvSpPr/>
          <p:nvPr/>
        </p:nvSpPr>
        <p:spPr>
          <a:xfrm>
            <a:off x="9098280" y="232272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00A651"/>
                </a:solidFill>
                <a:effectLst/>
                <a:uFillTx/>
                <a:latin typeface="Courier New"/>
              </a:rPr>
              <a:t>POST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44"/>
          <p:cNvSpPr/>
          <p:nvPr/>
        </p:nvSpPr>
        <p:spPr>
          <a:xfrm>
            <a:off x="9098280" y="24962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/tags/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5"/>
          <p:cNvSpPr/>
          <p:nvPr/>
        </p:nvSpPr>
        <p:spPr>
          <a:xfrm>
            <a:off x="9098280" y="268848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Anlegen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46"/>
          <p:cNvSpPr/>
          <p:nvPr/>
        </p:nvSpPr>
        <p:spPr>
          <a:xfrm>
            <a:off x="9098280" y="294444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47"/>
          <p:cNvSpPr/>
          <p:nvPr/>
        </p:nvSpPr>
        <p:spPr>
          <a:xfrm>
            <a:off x="9098280" y="31179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/tags/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48"/>
          <p:cNvSpPr/>
          <p:nvPr/>
        </p:nvSpPr>
        <p:spPr>
          <a:xfrm>
            <a:off x="9098280" y="331020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Eigene Tags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49"/>
          <p:cNvSpPr/>
          <p:nvPr/>
        </p:nvSpPr>
        <p:spPr>
          <a:xfrm>
            <a:off x="9098280" y="356616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50"/>
          <p:cNvSpPr/>
          <p:nvPr/>
        </p:nvSpPr>
        <p:spPr>
          <a:xfrm>
            <a:off x="9098280" y="374004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/tags/{id}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51"/>
          <p:cNvSpPr/>
          <p:nvPr/>
        </p:nvSpPr>
        <p:spPr>
          <a:xfrm>
            <a:off x="9098280" y="393192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Einzeln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52"/>
          <p:cNvSpPr/>
          <p:nvPr/>
        </p:nvSpPr>
        <p:spPr>
          <a:xfrm>
            <a:off x="9098280" y="418788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ourier New"/>
              </a:rPr>
              <a:t>GET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3"/>
          <p:cNvSpPr/>
          <p:nvPr/>
        </p:nvSpPr>
        <p:spPr>
          <a:xfrm>
            <a:off x="9098280" y="436176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/tags/{id}/files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54"/>
          <p:cNvSpPr/>
          <p:nvPr/>
        </p:nvSpPr>
        <p:spPr>
          <a:xfrm>
            <a:off x="9098280" y="455364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Dateien zum Tag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55"/>
          <p:cNvSpPr/>
          <p:nvPr/>
        </p:nvSpPr>
        <p:spPr>
          <a:xfrm>
            <a:off x="9098280" y="4809600"/>
            <a:ext cx="19558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DC2626"/>
                </a:solidFill>
                <a:effectLst/>
                <a:uFillTx/>
                <a:latin typeface="Courier New"/>
              </a:rPr>
              <a:t>DELETE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56"/>
          <p:cNvSpPr/>
          <p:nvPr/>
        </p:nvSpPr>
        <p:spPr>
          <a:xfrm>
            <a:off x="9098280" y="4983480"/>
            <a:ext cx="201060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D2A21"/>
                </a:solidFill>
                <a:effectLst/>
                <a:uFillTx/>
                <a:latin typeface="Courier New"/>
              </a:rPr>
              <a:t>/tags/{id}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57"/>
          <p:cNvSpPr/>
          <p:nvPr/>
        </p:nvSpPr>
        <p:spPr>
          <a:xfrm>
            <a:off x="9098280" y="5175360"/>
            <a:ext cx="20106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Löschen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ounded Rectangle 58"/>
          <p:cNvSpPr/>
          <p:nvPr/>
        </p:nvSpPr>
        <p:spPr>
          <a:xfrm>
            <a:off x="777240" y="5623560"/>
            <a:ext cx="10636200" cy="565920"/>
          </a:xfrm>
          <a:prstGeom prst="roundRect">
            <a:avLst>
              <a:gd name="adj" fmla="val 12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59"/>
          <p:cNvSpPr/>
          <p:nvPr/>
        </p:nvSpPr>
        <p:spPr>
          <a:xfrm>
            <a:off x="1143000" y="5779080"/>
            <a:ext cx="9904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Geschützt:  </a:t>
            </a:r>
            <a:r>
              <a:rPr lang="en-US" sz="1200" b="0" u="none" strike="noStrike">
                <a:solidFill>
                  <a:srgbClr val="C7DAD2"/>
                </a:solidFill>
                <a:effectLst/>
                <a:uFillTx/>
                <a:latin typeface="Arial"/>
              </a:rPr>
              <a:t>Alle Endpunkte ausser Registrierung und Login erwarten den Header  </a:t>
            </a: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ourier New"/>
              </a:rPr>
              <a:t>Authorization: Bearer &lt;token&gt;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60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61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2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06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BEWUSST SO GEWÄHLT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Design-Entscheide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ounded Rectangle 4"/>
          <p:cNvSpPr/>
          <p:nvPr/>
        </p:nvSpPr>
        <p:spPr>
          <a:xfrm>
            <a:off x="777240" y="1737360"/>
            <a:ext cx="5165280" cy="19648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Rounded Rectangle 5"/>
          <p:cNvSpPr/>
          <p:nvPr/>
        </p:nvSpPr>
        <p:spPr>
          <a:xfrm>
            <a:off x="106992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6"/>
          <p:cNvSpPr/>
          <p:nvPr/>
        </p:nvSpPr>
        <p:spPr>
          <a:xfrm>
            <a:off x="106992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7"/>
          <p:cNvSpPr/>
          <p:nvPr/>
        </p:nvSpPr>
        <p:spPr>
          <a:xfrm>
            <a:off x="1508760" y="203004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Identität kommt aus dem Token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8"/>
          <p:cNvSpPr/>
          <p:nvPr/>
        </p:nvSpPr>
        <p:spPr>
          <a:xfrm>
            <a:off x="1069920" y="2468880"/>
            <a:ext cx="457992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Die user_id wird beim Upload oder Löschen aus dem verifizierten JWT gelesen und nie als Parameter entgegengenommen. Sonst könnte man durch Mitschicken einer fremden ID im Namen anderer handeln.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9"/>
          <p:cNvSpPr/>
          <p:nvPr/>
        </p:nvSpPr>
        <p:spPr>
          <a:xfrm>
            <a:off x="6199560" y="1737360"/>
            <a:ext cx="5165280" cy="19648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ounded Rectangle 10"/>
          <p:cNvSpPr/>
          <p:nvPr/>
        </p:nvSpPr>
        <p:spPr>
          <a:xfrm>
            <a:off x="649224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1"/>
          <p:cNvSpPr/>
          <p:nvPr/>
        </p:nvSpPr>
        <p:spPr>
          <a:xfrm>
            <a:off x="649224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2"/>
          <p:cNvSpPr/>
          <p:nvPr/>
        </p:nvSpPr>
        <p:spPr>
          <a:xfrm>
            <a:off x="6931080" y="203004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404 statt 403 bei fremden Ressourcen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13"/>
          <p:cNvSpPr/>
          <p:nvPr/>
        </p:nvSpPr>
        <p:spPr>
          <a:xfrm>
            <a:off x="6492240" y="2468880"/>
            <a:ext cx="457992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Ein Zugriff auf fremde Dateien oder Tags liefert 404 Not Found statt 403 Forbidden. Ein 403 würde verraten, dass die Ressource überhaupt existiert.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14"/>
          <p:cNvSpPr/>
          <p:nvPr/>
        </p:nvSpPr>
        <p:spPr>
          <a:xfrm>
            <a:off x="777240" y="3886200"/>
            <a:ext cx="5165280" cy="19648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Rounded Rectangle 15"/>
          <p:cNvSpPr/>
          <p:nvPr/>
        </p:nvSpPr>
        <p:spPr>
          <a:xfrm>
            <a:off x="1069920" y="41605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16"/>
          <p:cNvSpPr/>
          <p:nvPr/>
        </p:nvSpPr>
        <p:spPr>
          <a:xfrm>
            <a:off x="1069920" y="42109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17"/>
          <p:cNvSpPr/>
          <p:nvPr/>
        </p:nvSpPr>
        <p:spPr>
          <a:xfrm>
            <a:off x="1508760" y="417888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Bytes auf Disk, Metadaten in der DB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18"/>
          <p:cNvSpPr/>
          <p:nvPr/>
        </p:nvSpPr>
        <p:spPr>
          <a:xfrm>
            <a:off x="1069920" y="4617720"/>
            <a:ext cx="4579920" cy="6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Die Datenbank bleibt schlank und schnell, während die Dateien im Dateisystem liegen. Der Name auf der Festplatte wird mit einer UUID versehen – das verhindert Namenskollisionen.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ounded Rectangle 19"/>
          <p:cNvSpPr/>
          <p:nvPr/>
        </p:nvSpPr>
        <p:spPr>
          <a:xfrm>
            <a:off x="6199560" y="3886200"/>
            <a:ext cx="5165280" cy="19648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20"/>
          <p:cNvSpPr/>
          <p:nvPr/>
        </p:nvSpPr>
        <p:spPr>
          <a:xfrm>
            <a:off x="6492240" y="41605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21"/>
          <p:cNvSpPr/>
          <p:nvPr/>
        </p:nvSpPr>
        <p:spPr>
          <a:xfrm>
            <a:off x="6492240" y="42109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2"/>
          <p:cNvSpPr/>
          <p:nvPr/>
        </p:nvSpPr>
        <p:spPr>
          <a:xfrm>
            <a:off x="6931080" y="417888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Tags als eigene n:m-Tabelle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3"/>
          <p:cNvSpPr/>
          <p:nvPr/>
        </p:nvSpPr>
        <p:spPr>
          <a:xfrm>
            <a:off x="6492240" y="4617720"/>
            <a:ext cx="457992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Statt eines Strings an der Datei. Nur so lassen sich Dateien sauber nach Tag abfragen und ein gelöschter Tag wird zuverlässig von allen Dateien entfernt.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24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25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6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07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TESTS &amp; CODE-COVERAGE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Qualitätssicherung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ounded Rectangle 4"/>
          <p:cNvSpPr/>
          <p:nvPr/>
        </p:nvSpPr>
        <p:spPr>
          <a:xfrm>
            <a:off x="777240" y="1719000"/>
            <a:ext cx="3345480" cy="169056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1088280" y="1920240"/>
            <a:ext cx="27237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440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28</a:t>
            </a:r>
            <a:endParaRPr lang="de-C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6"/>
          <p:cNvSpPr/>
          <p:nvPr/>
        </p:nvSpPr>
        <p:spPr>
          <a:xfrm>
            <a:off x="1088280" y="2651760"/>
            <a:ext cx="2723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Tests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8"/>
          <p:cNvSpPr/>
          <p:nvPr/>
        </p:nvSpPr>
        <p:spPr>
          <a:xfrm>
            <a:off x="4398120" y="1719000"/>
            <a:ext cx="3345480" cy="1690560"/>
          </a:xfrm>
          <a:prstGeom prst="roundRect">
            <a:avLst>
              <a:gd name="adj" fmla="val 6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9"/>
          <p:cNvSpPr/>
          <p:nvPr/>
        </p:nvSpPr>
        <p:spPr>
          <a:xfrm>
            <a:off x="4709160" y="1920240"/>
            <a:ext cx="27237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4400" b="1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96 %</a:t>
            </a:r>
            <a:endParaRPr lang="de-C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0"/>
          <p:cNvSpPr/>
          <p:nvPr/>
        </p:nvSpPr>
        <p:spPr>
          <a:xfrm>
            <a:off x="4709160" y="2651760"/>
            <a:ext cx="2723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Code-Coverage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ounded Rectangle 12"/>
          <p:cNvSpPr/>
          <p:nvPr/>
        </p:nvSpPr>
        <p:spPr>
          <a:xfrm>
            <a:off x="8019360" y="1719000"/>
            <a:ext cx="3345480" cy="169056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13"/>
          <p:cNvSpPr/>
          <p:nvPr/>
        </p:nvSpPr>
        <p:spPr>
          <a:xfrm>
            <a:off x="8330040" y="1920240"/>
            <a:ext cx="2723760" cy="68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440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70 %</a:t>
            </a:r>
            <a:endParaRPr lang="de-CH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4"/>
          <p:cNvSpPr/>
          <p:nvPr/>
        </p:nvSpPr>
        <p:spPr>
          <a:xfrm>
            <a:off x="8330040" y="2651760"/>
            <a:ext cx="2723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Vorgabe</a:t>
            </a:r>
            <a:endParaRPr lang="de-C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Rounded Rectangle 16"/>
          <p:cNvSpPr/>
          <p:nvPr/>
        </p:nvSpPr>
        <p:spPr>
          <a:xfrm>
            <a:off x="777240" y="3749040"/>
            <a:ext cx="10636200" cy="383040"/>
          </a:xfrm>
          <a:prstGeom prst="roundRect">
            <a:avLst>
              <a:gd name="adj" fmla="val 35000"/>
            </a:avLst>
          </a:prstGeom>
          <a:solidFill>
            <a:srgbClr val="F3F8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Rounded Rectangle 17"/>
          <p:cNvSpPr/>
          <p:nvPr/>
        </p:nvSpPr>
        <p:spPr>
          <a:xfrm>
            <a:off x="777240" y="3749040"/>
            <a:ext cx="10210680" cy="383040"/>
          </a:xfrm>
          <a:prstGeom prst="roundRect">
            <a:avLst>
              <a:gd name="adj" fmla="val 3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Rectangle 18"/>
          <p:cNvSpPr/>
          <p:nvPr/>
        </p:nvSpPr>
        <p:spPr>
          <a:xfrm>
            <a:off x="8223120" y="3675960"/>
            <a:ext cx="17280" cy="529200"/>
          </a:xfrm>
          <a:prstGeom prst="rect">
            <a:avLst/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8640" tIns="45000" rIns="864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19"/>
          <p:cNvSpPr/>
          <p:nvPr/>
        </p:nvSpPr>
        <p:spPr>
          <a:xfrm>
            <a:off x="7537320" y="4242960"/>
            <a:ext cx="1370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9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Vorgabe 70 %</a:t>
            </a:r>
            <a:endParaRPr lang="de-CH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20"/>
          <p:cNvSpPr/>
          <p:nvPr/>
        </p:nvSpPr>
        <p:spPr>
          <a:xfrm>
            <a:off x="9800280" y="3813120"/>
            <a:ext cx="109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96 %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21"/>
          <p:cNvSpPr/>
          <p:nvPr/>
        </p:nvSpPr>
        <p:spPr>
          <a:xfrm>
            <a:off x="777240" y="4617720"/>
            <a:ext cx="5180400" cy="15076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TextBox 22"/>
          <p:cNvSpPr/>
          <p:nvPr/>
        </p:nvSpPr>
        <p:spPr>
          <a:xfrm>
            <a:off x="1069920" y="4910400"/>
            <a:ext cx="459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Isolierte Tests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23"/>
          <p:cNvSpPr/>
          <p:nvPr/>
        </p:nvSpPr>
        <p:spPr>
          <a:xfrm>
            <a:off x="1069920" y="5349240"/>
            <a:ext cx="45950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conftest.py stellt Fixtures bereit: eigene Test-Datenbank, temporärer Upload-Ordner pro Test, vorbereitete Benutzer. Jeder Test startet auf sauberem Stand.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Rounded Rectangle 24"/>
          <p:cNvSpPr/>
          <p:nvPr/>
        </p:nvSpPr>
        <p:spPr>
          <a:xfrm>
            <a:off x="6233040" y="4617720"/>
            <a:ext cx="5180400" cy="15076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5" name="TextBox 25"/>
          <p:cNvSpPr/>
          <p:nvPr/>
        </p:nvSpPr>
        <p:spPr>
          <a:xfrm>
            <a:off x="6525720" y="4910400"/>
            <a:ext cx="459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Auch die Fehlerfälle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6"/>
          <p:cNvSpPr/>
          <p:nvPr/>
        </p:nvSpPr>
        <p:spPr>
          <a:xfrm>
            <a:off x="6525720" y="5349240"/>
            <a:ext cx="4595040" cy="64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Getestet wird nicht nur das gewollte. Fremde Datei (404), fremder Tag, fehlendes und ungültiges Token, Löschen mit Überprüfung des Aufräumen auf der Festplatte.</a:t>
            </a:r>
            <a:endParaRPr lang="de-C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27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28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9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08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VON GIT PUSH ZUR LAUFENDEN INSTANZ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CI/CD &amp; Deployment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Pentagon 4"/>
          <p:cNvSpPr/>
          <p:nvPr/>
        </p:nvSpPr>
        <p:spPr>
          <a:xfrm>
            <a:off x="777240" y="1874520"/>
            <a:ext cx="2138760" cy="867600"/>
          </a:xfrm>
          <a:prstGeom prst="homePlate">
            <a:avLst>
              <a:gd name="adj" fmla="val 50000"/>
            </a:avLst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5"/>
          <p:cNvSpPr/>
          <p:nvPr/>
        </p:nvSpPr>
        <p:spPr>
          <a:xfrm>
            <a:off x="103320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git push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6"/>
          <p:cNvSpPr/>
          <p:nvPr/>
        </p:nvSpPr>
        <p:spPr>
          <a:xfrm>
            <a:off x="86868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Auslöser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Chevron 7"/>
          <p:cNvSpPr/>
          <p:nvPr/>
        </p:nvSpPr>
        <p:spPr>
          <a:xfrm>
            <a:off x="2551320" y="1874520"/>
            <a:ext cx="2138760" cy="867600"/>
          </a:xfrm>
          <a:prstGeom prst="chevron">
            <a:avLst>
              <a:gd name="adj" fmla="val 50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8"/>
          <p:cNvSpPr/>
          <p:nvPr/>
        </p:nvSpPr>
        <p:spPr>
          <a:xfrm>
            <a:off x="293508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Install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9"/>
          <p:cNvSpPr/>
          <p:nvPr/>
        </p:nvSpPr>
        <p:spPr>
          <a:xfrm>
            <a:off x="277056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uv sync --frozen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Chevron 10"/>
          <p:cNvSpPr/>
          <p:nvPr/>
        </p:nvSpPr>
        <p:spPr>
          <a:xfrm>
            <a:off x="4325040" y="1874520"/>
            <a:ext cx="2138760" cy="867600"/>
          </a:xfrm>
          <a:prstGeom prst="chevron">
            <a:avLst>
              <a:gd name="adj" fmla="val 5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11"/>
          <p:cNvSpPr/>
          <p:nvPr/>
        </p:nvSpPr>
        <p:spPr>
          <a:xfrm>
            <a:off x="470916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Test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2"/>
          <p:cNvSpPr/>
          <p:nvPr/>
        </p:nvSpPr>
        <p:spPr>
          <a:xfrm>
            <a:off x="454464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uv run pytest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Chevron 13"/>
          <p:cNvSpPr/>
          <p:nvPr/>
        </p:nvSpPr>
        <p:spPr>
          <a:xfrm>
            <a:off x="6099120" y="1874520"/>
            <a:ext cx="2138760" cy="867600"/>
          </a:xfrm>
          <a:prstGeom prst="chevron">
            <a:avLst>
              <a:gd name="adj" fmla="val 50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14"/>
          <p:cNvSpPr/>
          <p:nvPr/>
        </p:nvSpPr>
        <p:spPr>
          <a:xfrm>
            <a:off x="648324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Build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5"/>
          <p:cNvSpPr/>
          <p:nvPr/>
        </p:nvSpPr>
        <p:spPr>
          <a:xfrm>
            <a:off x="631836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Docker, Tag = Commit-SHA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Chevron 16"/>
          <p:cNvSpPr/>
          <p:nvPr/>
        </p:nvSpPr>
        <p:spPr>
          <a:xfrm>
            <a:off x="7872840" y="1874520"/>
            <a:ext cx="2138760" cy="867600"/>
          </a:xfrm>
          <a:prstGeom prst="chevron">
            <a:avLst>
              <a:gd name="adj" fmla="val 50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17"/>
          <p:cNvSpPr/>
          <p:nvPr/>
        </p:nvSpPr>
        <p:spPr>
          <a:xfrm>
            <a:off x="825696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Push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8"/>
          <p:cNvSpPr/>
          <p:nvPr/>
        </p:nvSpPr>
        <p:spPr>
          <a:xfrm>
            <a:off x="809244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Artifact Registry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Chevron 19"/>
          <p:cNvSpPr/>
          <p:nvPr/>
        </p:nvSpPr>
        <p:spPr>
          <a:xfrm>
            <a:off x="9646920" y="1874520"/>
            <a:ext cx="2138760" cy="867600"/>
          </a:xfrm>
          <a:prstGeom prst="chevron">
            <a:avLst>
              <a:gd name="adj" fmla="val 50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20"/>
          <p:cNvSpPr/>
          <p:nvPr/>
        </p:nvSpPr>
        <p:spPr>
          <a:xfrm>
            <a:off x="10031040" y="2139840"/>
            <a:ext cx="1452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Deploy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1"/>
          <p:cNvSpPr/>
          <p:nvPr/>
        </p:nvSpPr>
        <p:spPr>
          <a:xfrm>
            <a:off x="9866520" y="2871360"/>
            <a:ext cx="18277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lang="en-US" sz="10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Cloud Run, europe-west6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ounded Rectangle 22"/>
          <p:cNvSpPr/>
          <p:nvPr/>
        </p:nvSpPr>
        <p:spPr>
          <a:xfrm>
            <a:off x="777240" y="3611880"/>
            <a:ext cx="5180400" cy="123336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TextBox 23"/>
          <p:cNvSpPr/>
          <p:nvPr/>
        </p:nvSpPr>
        <p:spPr>
          <a:xfrm>
            <a:off x="1069920" y="3904560"/>
            <a:ext cx="459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Kein Deployment von defektem Code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4"/>
          <p:cNvSpPr/>
          <p:nvPr/>
        </p:nvSpPr>
        <p:spPr>
          <a:xfrm>
            <a:off x="1069920" y="4343400"/>
            <a:ext cx="459504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Der Test-Schritt steht vor dem Build. Schlägt ein Test fehl, bricht die Pipeline ab und die alte Revision bleibt unverändert online.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ounded Rectangle 25"/>
          <p:cNvSpPr/>
          <p:nvPr/>
        </p:nvSpPr>
        <p:spPr>
          <a:xfrm>
            <a:off x="6233040" y="3611880"/>
            <a:ext cx="5180400" cy="123336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26"/>
          <p:cNvSpPr/>
          <p:nvPr/>
        </p:nvSpPr>
        <p:spPr>
          <a:xfrm>
            <a:off x="6525720" y="3904560"/>
            <a:ext cx="45950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5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Persistenz trotz flüchtigem Dateisystem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27"/>
          <p:cNvSpPr/>
          <p:nvPr/>
        </p:nvSpPr>
        <p:spPr>
          <a:xfrm>
            <a:off x="6525720" y="4343400"/>
            <a:ext cx="4595040" cy="3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Cloud Run verliert bei jedem Neustart lokale Dateien. Ein Cloud-Storage-Bucket ist deshalb als Volume unter /app/data eingebunden.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30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31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2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09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0D2A2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Oval 2"/>
          <p:cNvSpPr/>
          <p:nvPr/>
        </p:nvSpPr>
        <p:spPr>
          <a:xfrm>
            <a:off x="8778240" y="-2286000"/>
            <a:ext cx="5851080" cy="5851080"/>
          </a:xfrm>
          <a:prstGeom prst="ellipse">
            <a:avLst/>
          </a:prstGeom>
          <a:solidFill>
            <a:srgbClr val="143B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777240" y="1234440"/>
            <a:ext cx="6399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150" b="1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TEIL 2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777240" y="1554480"/>
            <a:ext cx="731412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Live-Demo</a:t>
            </a:r>
            <a:endParaRPr lang="de-CH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5"/>
          <p:cNvSpPr/>
          <p:nvPr/>
        </p:nvSpPr>
        <p:spPr>
          <a:xfrm>
            <a:off x="777240" y="278892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6"/>
          <p:cNvSpPr/>
          <p:nvPr/>
        </p:nvSpPr>
        <p:spPr>
          <a:xfrm>
            <a:off x="777240" y="3063240"/>
            <a:ext cx="60339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lang="en-US" sz="1450" b="0" u="none" strike="noStrike">
                <a:solidFill>
                  <a:srgbClr val="C7DAD2"/>
                </a:solidFill>
                <a:effectLst/>
                <a:uFillTx/>
                <a:latin typeface="Arial"/>
              </a:rPr>
              <a:t>Der komplette Ablauf in der Swagger-UI – von der Registrierung bis zur Account-Löschung.</a:t>
            </a:r>
            <a:endParaRPr lang="de-CH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ounded Rectangle 7"/>
          <p:cNvSpPr/>
          <p:nvPr/>
        </p:nvSpPr>
        <p:spPr>
          <a:xfrm>
            <a:off x="777240" y="387720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8"/>
          <p:cNvSpPr/>
          <p:nvPr/>
        </p:nvSpPr>
        <p:spPr>
          <a:xfrm>
            <a:off x="777240" y="390924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1179720" y="3895200"/>
            <a:ext cx="493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Registrieren und einloggen, Token erhalten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ounded Rectangle 10"/>
          <p:cNvSpPr/>
          <p:nvPr/>
        </p:nvSpPr>
        <p:spPr>
          <a:xfrm>
            <a:off x="777240" y="435240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777240" y="438444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Box 12"/>
          <p:cNvSpPr/>
          <p:nvPr/>
        </p:nvSpPr>
        <p:spPr>
          <a:xfrm>
            <a:off x="1179720" y="437076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Tag anlegen, Datei mit diesem Tag hochladen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ounded Rectangle 13"/>
          <p:cNvSpPr/>
          <p:nvPr/>
        </p:nvSpPr>
        <p:spPr>
          <a:xfrm>
            <a:off x="777240" y="482796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777240" y="486000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1179720" y="484632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Eigene Dateien auflisten, nach Tag filtern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16"/>
          <p:cNvSpPr/>
          <p:nvPr/>
        </p:nvSpPr>
        <p:spPr>
          <a:xfrm>
            <a:off x="6355080" y="387720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17"/>
          <p:cNvSpPr/>
          <p:nvPr/>
        </p:nvSpPr>
        <p:spPr>
          <a:xfrm>
            <a:off x="6355080" y="390924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8"/>
          <p:cNvSpPr/>
          <p:nvPr/>
        </p:nvSpPr>
        <p:spPr>
          <a:xfrm>
            <a:off x="6757560" y="3895200"/>
            <a:ext cx="49366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Datei herunterladen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19"/>
          <p:cNvSpPr/>
          <p:nvPr/>
        </p:nvSpPr>
        <p:spPr>
          <a:xfrm>
            <a:off x="6355080" y="435240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6355080" y="438444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1"/>
          <p:cNvSpPr/>
          <p:nvPr/>
        </p:nvSpPr>
        <p:spPr>
          <a:xfrm>
            <a:off x="6757560" y="4370760"/>
            <a:ext cx="493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Mit zweitem Benutzer auf fremde Datei zugreifen, 404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22"/>
          <p:cNvSpPr/>
          <p:nvPr/>
        </p:nvSpPr>
        <p:spPr>
          <a:xfrm>
            <a:off x="6355080" y="4827960"/>
            <a:ext cx="236520" cy="236520"/>
          </a:xfrm>
          <a:prstGeom prst="roundRect">
            <a:avLst>
              <a:gd name="adj" fmla="val 30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TextBox 23"/>
          <p:cNvSpPr/>
          <p:nvPr/>
        </p:nvSpPr>
        <p:spPr>
          <a:xfrm>
            <a:off x="6355080" y="4860000"/>
            <a:ext cx="236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de-CH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24"/>
          <p:cNvSpPr/>
          <p:nvPr/>
        </p:nvSpPr>
        <p:spPr>
          <a:xfrm>
            <a:off x="6757560" y="4846320"/>
            <a:ext cx="49366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Account löschen, Dateien und Tags sind weg</a:t>
            </a:r>
            <a:endParaRPr lang="de-CH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25"/>
          <p:cNvSpPr/>
          <p:nvPr/>
        </p:nvSpPr>
        <p:spPr>
          <a:xfrm>
            <a:off x="777240" y="5623560"/>
            <a:ext cx="9325800" cy="565920"/>
          </a:xfrm>
          <a:prstGeom prst="roundRect">
            <a:avLst>
              <a:gd name="adj" fmla="val 12000"/>
            </a:avLst>
          </a:prstGeom>
          <a:solidFill>
            <a:srgbClr val="143B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TextBox 26"/>
          <p:cNvSpPr/>
          <p:nvPr/>
        </p:nvSpPr>
        <p:spPr>
          <a:xfrm>
            <a:off x="1143000" y="5779080"/>
            <a:ext cx="86857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1" u="none" strike="noStrike">
                <a:solidFill>
                  <a:srgbClr val="7BE0AE"/>
                </a:solidFill>
                <a:effectLst/>
                <a:uFillTx/>
                <a:latin typeface="Arial"/>
              </a:rPr>
              <a:t>Live:  </a:t>
            </a:r>
            <a:r>
              <a:rPr lang="en-US" sz="1200" b="0" u="none" strike="noStrike">
                <a:solidFill>
                  <a:srgbClr val="0000FF"/>
                </a:solidFill>
                <a:effectLst/>
                <a:uFillTx/>
                <a:latin typeface="Courier New"/>
                <a:hlinkClick r:id="rId1"/>
              </a:rPr>
              <a:t>https://pe-a-atl1-312796171129.europe-west6.run.app/docs</a:t>
            </a:r>
            <a:endParaRPr lang="de-C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WAS ICH MITNEHME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Herausforderungen &amp; Learnings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ounded Rectangle 4"/>
          <p:cNvSpPr/>
          <p:nvPr/>
        </p:nvSpPr>
        <p:spPr>
          <a:xfrm>
            <a:off x="777240" y="1737360"/>
            <a:ext cx="5165280" cy="20106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ounded Rectangle 5"/>
          <p:cNvSpPr/>
          <p:nvPr/>
        </p:nvSpPr>
        <p:spPr>
          <a:xfrm>
            <a:off x="106992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6"/>
          <p:cNvSpPr/>
          <p:nvPr/>
        </p:nvSpPr>
        <p:spPr>
          <a:xfrm>
            <a:off x="106992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7"/>
          <p:cNvSpPr/>
          <p:nvPr/>
        </p:nvSpPr>
        <p:spPr>
          <a:xfrm>
            <a:off x="1508760" y="203004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Swagger-UI sendet Arrays anders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8"/>
          <p:cNvSpPr/>
          <p:nvPr/>
        </p:nvSpPr>
        <p:spPr>
          <a:xfrm>
            <a:off x="1069920" y="2468880"/>
            <a:ext cx="457992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Beim Upload mit mehreren Tags schickt die Swagger-UI ein Multipart-Array als einen String mit Komma Trennung, curl dagegen wiederholte Felder. Der Router akzeptiert nun beide Formate – gefunden nur durch manuelles Ausprobieren.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ounded Rectangle 9"/>
          <p:cNvSpPr/>
          <p:nvPr/>
        </p:nvSpPr>
        <p:spPr>
          <a:xfrm>
            <a:off x="6199560" y="1737360"/>
            <a:ext cx="5165280" cy="20106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ounded Rectangle 10"/>
          <p:cNvSpPr/>
          <p:nvPr/>
        </p:nvSpPr>
        <p:spPr>
          <a:xfrm>
            <a:off x="6492240" y="201168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11"/>
          <p:cNvSpPr/>
          <p:nvPr/>
        </p:nvSpPr>
        <p:spPr>
          <a:xfrm>
            <a:off x="6492240" y="206208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!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2"/>
          <p:cNvSpPr/>
          <p:nvPr/>
        </p:nvSpPr>
        <p:spPr>
          <a:xfrm>
            <a:off x="6931080" y="203004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Die Cloud vergisst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3"/>
          <p:cNvSpPr/>
          <p:nvPr/>
        </p:nvSpPr>
        <p:spPr>
          <a:xfrm>
            <a:off x="6492240" y="2468880"/>
            <a:ext cx="4579920" cy="67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Lokal lief alles, in Cloud Run waren die Uploads nach jedem Neustart weg. Das flüchtige Dateisystem war mir vorher nicht bewusst. 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Gelöst über Bucket-Volume und konfigurierbare Pfade.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14"/>
          <p:cNvSpPr/>
          <p:nvPr/>
        </p:nvSpPr>
        <p:spPr>
          <a:xfrm>
            <a:off x="777240" y="3886200"/>
            <a:ext cx="5165280" cy="20106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Rounded Rectangle 15"/>
          <p:cNvSpPr/>
          <p:nvPr/>
        </p:nvSpPr>
        <p:spPr>
          <a:xfrm>
            <a:off x="1069920" y="41605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16"/>
          <p:cNvSpPr/>
          <p:nvPr/>
        </p:nvSpPr>
        <p:spPr>
          <a:xfrm>
            <a:off x="1069920" y="42109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✓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17"/>
          <p:cNvSpPr/>
          <p:nvPr/>
        </p:nvSpPr>
        <p:spPr>
          <a:xfrm>
            <a:off x="1508760" y="4178880"/>
            <a:ext cx="4141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Schichten zahlen sich später aus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8"/>
          <p:cNvSpPr/>
          <p:nvPr/>
        </p:nvSpPr>
        <p:spPr>
          <a:xfrm>
            <a:off x="1069920" y="4617720"/>
            <a:ext cx="4579920" cy="10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Das Tagging kam erst spät dazu. Weil Logik und Eigentümer-Prüfung sauber in den Services lagen, blieb der Eingriff klein und überschaubar.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19"/>
          <p:cNvSpPr/>
          <p:nvPr/>
        </p:nvSpPr>
        <p:spPr>
          <a:xfrm>
            <a:off x="6199560" y="3886200"/>
            <a:ext cx="5165280" cy="201060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ounded Rectangle 20"/>
          <p:cNvSpPr/>
          <p:nvPr/>
        </p:nvSpPr>
        <p:spPr>
          <a:xfrm>
            <a:off x="6492240" y="4160520"/>
            <a:ext cx="309960" cy="309960"/>
          </a:xfrm>
          <a:prstGeom prst="roundRect">
            <a:avLst>
              <a:gd name="adj" fmla="val 25000"/>
            </a:avLst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21"/>
          <p:cNvSpPr/>
          <p:nvPr/>
        </p:nvSpPr>
        <p:spPr>
          <a:xfrm>
            <a:off x="6492240" y="4210920"/>
            <a:ext cx="30996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✓</a:t>
            </a:r>
            <a:endParaRPr lang="de-C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2"/>
          <p:cNvSpPr/>
          <p:nvPr/>
        </p:nvSpPr>
        <p:spPr>
          <a:xfrm>
            <a:off x="6931080" y="4178880"/>
            <a:ext cx="4141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Früh testen ist den Aufwand wert</a:t>
            </a:r>
            <a:endParaRPr lang="de-CH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3"/>
          <p:cNvSpPr/>
          <p:nvPr/>
        </p:nvSpPr>
        <p:spPr>
          <a:xfrm>
            <a:off x="6492240" y="4617720"/>
            <a:ext cx="45799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Weil die Tests von Beginn an mitliefen, konnte ich Refactorings angehen und direkt Feedback zur Funktionalität erhalten.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ectangle 24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TextBox 25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6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11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1"/>
          <p:cNvSpPr/>
          <p:nvPr/>
        </p:nvSpPr>
        <p:spPr>
          <a:xfrm>
            <a:off x="777240" y="457200"/>
            <a:ext cx="1063620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050" b="1" u="none" strike="noStrike">
                <a:solidFill>
                  <a:srgbClr val="00A651"/>
                </a:solidFill>
                <a:effectLst/>
                <a:uFillTx/>
                <a:latin typeface="Arial"/>
              </a:rPr>
              <a:t>WAS ICH MIT MEHR ZEIT ÄNDERN WÜRDE</a:t>
            </a:r>
            <a:endParaRPr lang="de-CH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2"/>
          <p:cNvSpPr/>
          <p:nvPr/>
        </p:nvSpPr>
        <p:spPr>
          <a:xfrm>
            <a:off x="777240" y="731520"/>
            <a:ext cx="106362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9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Ausblick</a:t>
            </a:r>
            <a:endParaRPr lang="de-CH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3"/>
          <p:cNvSpPr/>
          <p:nvPr/>
        </p:nvSpPr>
        <p:spPr>
          <a:xfrm>
            <a:off x="777240" y="1344240"/>
            <a:ext cx="565920" cy="67680"/>
          </a:xfrm>
          <a:prstGeom prst="rect">
            <a:avLst/>
          </a:prstGeom>
          <a:solidFill>
            <a:srgbClr val="00A6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3760" rIns="90000" bIns="237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Rounded Rectangle 4"/>
          <p:cNvSpPr/>
          <p:nvPr/>
        </p:nvSpPr>
        <p:spPr>
          <a:xfrm>
            <a:off x="777240" y="1737360"/>
            <a:ext cx="3345480" cy="26506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Rounded Rectangle 5"/>
          <p:cNvSpPr/>
          <p:nvPr/>
        </p:nvSpPr>
        <p:spPr>
          <a:xfrm>
            <a:off x="1069920" y="2030040"/>
            <a:ext cx="840240" cy="273240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6"/>
          <p:cNvSpPr/>
          <p:nvPr/>
        </p:nvSpPr>
        <p:spPr>
          <a:xfrm>
            <a:off x="1069920" y="2089440"/>
            <a:ext cx="840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HOCH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7"/>
          <p:cNvSpPr/>
          <p:nvPr/>
        </p:nvSpPr>
        <p:spPr>
          <a:xfrm>
            <a:off x="1069920" y="2487240"/>
            <a:ext cx="2760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Passwort-Hashing</a:t>
            </a:r>
            <a:endParaRPr lang="de-C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8"/>
          <p:cNvSpPr/>
          <p:nvPr/>
        </p:nvSpPr>
        <p:spPr>
          <a:xfrm>
            <a:off x="1069920" y="3063240"/>
            <a:ext cx="2760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Passwörter liegen aktuell im Klartext in der Datenbank. 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ounded Rectangle 9"/>
          <p:cNvSpPr/>
          <p:nvPr/>
        </p:nvSpPr>
        <p:spPr>
          <a:xfrm>
            <a:off x="4398120" y="1737360"/>
            <a:ext cx="3345480" cy="26506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Rounded Rectangle 10"/>
          <p:cNvSpPr/>
          <p:nvPr/>
        </p:nvSpPr>
        <p:spPr>
          <a:xfrm>
            <a:off x="4690800" y="2030040"/>
            <a:ext cx="840240" cy="27324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2" name="TextBox 11"/>
          <p:cNvSpPr/>
          <p:nvPr/>
        </p:nvSpPr>
        <p:spPr>
          <a:xfrm>
            <a:off x="4690800" y="2089440"/>
            <a:ext cx="840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MITTEL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2"/>
          <p:cNvSpPr/>
          <p:nvPr/>
        </p:nvSpPr>
        <p:spPr>
          <a:xfrm>
            <a:off x="4690800" y="2487240"/>
            <a:ext cx="276048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Ablaufende Tokens</a:t>
            </a:r>
            <a:endParaRPr lang="de-C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3"/>
          <p:cNvSpPr/>
          <p:nvPr/>
        </p:nvSpPr>
        <p:spPr>
          <a:xfrm>
            <a:off x="4690800" y="3063240"/>
            <a:ext cx="27604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Die JWTs haben kein Ablaufdatum und bleiben unbegrenzt gültig, selbst nach dem Löschen des Accounts. 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Rounded Rectangle 14"/>
          <p:cNvSpPr/>
          <p:nvPr/>
        </p:nvSpPr>
        <p:spPr>
          <a:xfrm>
            <a:off x="8019360" y="1737360"/>
            <a:ext cx="3345480" cy="2650680"/>
          </a:xfrm>
          <a:prstGeom prst="roundRect">
            <a:avLst>
              <a:gd name="adj" fmla="val 6000"/>
            </a:avLst>
          </a:prstGeom>
          <a:solidFill>
            <a:srgbClr val="F3F8F6"/>
          </a:solidFill>
          <a:ln w="12700">
            <a:solidFill>
              <a:srgbClr val="DBE8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Rounded Rectangle 15"/>
          <p:cNvSpPr/>
          <p:nvPr/>
        </p:nvSpPr>
        <p:spPr>
          <a:xfrm>
            <a:off x="8312040" y="2030040"/>
            <a:ext cx="840240" cy="273240"/>
          </a:xfrm>
          <a:prstGeom prst="roundRect">
            <a:avLst>
              <a:gd name="adj" fmla="val 30000"/>
            </a:avLst>
          </a:prstGeom>
          <a:solidFill>
            <a:srgbClr val="B453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16"/>
          <p:cNvSpPr/>
          <p:nvPr/>
        </p:nvSpPr>
        <p:spPr>
          <a:xfrm>
            <a:off x="8312040" y="2089440"/>
            <a:ext cx="840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MITTEL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7"/>
          <p:cNvSpPr/>
          <p:nvPr/>
        </p:nvSpPr>
        <p:spPr>
          <a:xfrm>
            <a:off x="8312040" y="2487240"/>
            <a:ext cx="2760480" cy="27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D2A21"/>
                </a:solidFill>
                <a:effectLst/>
                <a:uFillTx/>
                <a:latin typeface="Arial"/>
              </a:rPr>
              <a:t>SQLite Ablösung</a:t>
            </a:r>
            <a:endParaRPr lang="de-C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8"/>
          <p:cNvSpPr/>
          <p:nvPr/>
        </p:nvSpPr>
        <p:spPr>
          <a:xfrm>
            <a:off x="8312040" y="3063240"/>
            <a:ext cx="276048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lang="en-US" sz="115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SQLite auf einem Bucket-Volume sperrt nicht zuverlässig und zwingt die App auf max-instances=1.</a:t>
            </a:r>
            <a:endParaRPr lang="de-CH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21"/>
          <p:cNvSpPr/>
          <p:nvPr/>
        </p:nvSpPr>
        <p:spPr>
          <a:xfrm>
            <a:off x="777240" y="6346080"/>
            <a:ext cx="10636200" cy="9720"/>
          </a:xfrm>
          <a:prstGeom prst="rect">
            <a:avLst/>
          </a:prstGeom>
          <a:solidFill>
            <a:srgbClr val="DBE8E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22"/>
          <p:cNvSpPr/>
          <p:nvPr/>
        </p:nvSpPr>
        <p:spPr>
          <a:xfrm>
            <a:off x="777240" y="6437520"/>
            <a:ext cx="5485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DODOload  ·  PE-A ATL 1  ·  HE24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23"/>
          <p:cNvSpPr/>
          <p:nvPr/>
        </p:nvSpPr>
        <p:spPr>
          <a:xfrm>
            <a:off x="10500120" y="6437520"/>
            <a:ext cx="913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de-CH" sz="900" b="0" u="none" strike="noStrike">
                <a:solidFill>
                  <a:srgbClr val="6B7F77"/>
                </a:solidFill>
                <a:effectLst/>
                <a:uFillTx/>
                <a:latin typeface="Arial"/>
              </a:rPr>
              <a:t>12</a:t>
            </a:r>
            <a:endParaRPr lang="de-CH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de-CH</dc:language>
  <cp:lastModifiedBy/>
  <dcterms:modified xsi:type="dcterms:W3CDTF">2026-08-11T17:19:54Z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